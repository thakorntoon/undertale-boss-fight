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6" r:id="rId27"/>
    <p:sldId id="267" r:id="rId13"/>
    <p:sldId id="268" r:id="rId14"/>
    <p:sldId id="269" r:id="rId15"/>
    <p:sldId id="270" r:id="rId16"/>
    <p:sldId id="277" r:id="rId28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8.xml"/><Relationship Id="rId18" Type="http://schemas.openxmlformats.org/officeDocument/2006/relationships/slide" Target="slides/slide19.xml"/><Relationship Id="rId19" Type="http://schemas.openxmlformats.org/officeDocument/2006/relationships/slide" Target="slides/slide20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2.xml"/><Relationship Id="rId28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795528"/>
            <a:ext cx="713232" cy="754380"/>
          </a:xfrm>
          <a:prstGeom prst="ellipse">
            <a:avLst/>
          </a:prstGeom>
          <a:solidFill>
            <a:srgbClr val="FF2E2E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991088" y="795528"/>
            <a:ext cx="713232" cy="754380"/>
          </a:xfrm>
          <a:prstGeom prst="ellipse">
            <a:avLst/>
          </a:prstGeom>
          <a:solidFill>
            <a:srgbClr val="FF2E2E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rot="10800000">
            <a:off x="10442448" y="1097280"/>
            <a:ext cx="1152144" cy="850392"/>
          </a:xfrm>
          <a:prstGeom prst="triangle">
            <a:avLst/>
          </a:prstGeom>
          <a:solidFill>
            <a:srgbClr val="FF2E2E">
              <a:alpha val="3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5376672"/>
            <a:ext cx="475488" cy="502920"/>
          </a:xfrm>
          <a:prstGeom prst="ellipse">
            <a:avLst/>
          </a:prstGeom>
          <a:solidFill>
            <a:srgbClr val="4DA6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78992" y="5376672"/>
            <a:ext cx="475488" cy="502920"/>
          </a:xfrm>
          <a:prstGeom prst="ellipse">
            <a:avLst/>
          </a:prstGeom>
          <a:solidFill>
            <a:srgbClr val="4DA6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 rot="10800000">
            <a:off x="713232" y="5577840"/>
            <a:ext cx="768096" cy="566928"/>
          </a:xfrm>
          <a:prstGeom prst="triangle">
            <a:avLst/>
          </a:prstGeom>
          <a:solidFill>
            <a:srgbClr val="4DA6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155680" y="5534863"/>
            <a:ext cx="404165" cy="427482"/>
          </a:xfrm>
          <a:prstGeom prst="ellipse">
            <a:avLst/>
          </a:prstGeom>
          <a:solidFill>
            <a:srgbClr val="FFD43B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1528755" y="5534863"/>
            <a:ext cx="404165" cy="427482"/>
          </a:xfrm>
          <a:prstGeom prst="ellipse">
            <a:avLst/>
          </a:prstGeom>
          <a:solidFill>
            <a:srgbClr val="FFD43B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rot="10800000">
            <a:off x="11217859" y="5705856"/>
            <a:ext cx="652882" cy="481889"/>
          </a:xfrm>
          <a:prstGeom prst="triangle">
            <a:avLst/>
          </a:prstGeom>
          <a:solidFill>
            <a:srgbClr val="FFD43B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GAME MAKER LANGUAGE  →  JAVA 2D GRAPHICS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16916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UndertaleBossFight</a:t>
            </a:r>
            <a:endParaRPr lang="en-US" sz="580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สรุปสถาปัตยกรรมโค้ดทั้งหมด (ฉบับละเอียด) — แต่ละส่วนทำอะไร · มีฟังก์ชัน/ตัวแปรอะไร · เชื่อมโยงและทำงานร่วมกันอย่างไร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" y="38404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6181D"/>
          </a:solidFill>
          <a:ln w="15875">
            <a:solidFill>
              <a:srgbClr val="FF2E2E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9684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77240" y="4553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 Java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0" y="38404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6181D"/>
          </a:solidFill>
          <a:ln w="15875">
            <a:solidFill>
              <a:srgbClr val="FFD43B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926080" y="39684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~26,800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926080" y="4553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บรรทัดโค้ด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74920" y="38404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6181D"/>
          </a:solidFill>
          <a:ln w="15875">
            <a:solidFill>
              <a:srgbClr val="4DA6FF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74920" y="39684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074920" y="4553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เลเยอร์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223760" y="38404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6181D"/>
          </a:solidFill>
          <a:ln w="15875">
            <a:solidFill>
              <a:srgbClr val="5BE584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223760" y="39684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E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223760" y="4553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บอส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372600" y="38404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16181D"/>
          </a:solidFill>
          <a:ln w="15875">
            <a:solidFill>
              <a:srgbClr val="C77DFF">
                <a:alpha val="7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372600" y="396849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✓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9372600" y="4553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เทสต์ผ่าน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5440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เป้าหมาย: พอร์ตฉากต่อสู้บอส Undertale (GML) → เกม Java ยืนเดี่ยว เลือกสู้บอสได้ทันที · build เขียว 49 เทสต์ผ่าน · โค้ดมี javadoc ครบทุกคลาส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ภาพรวมสถาปัตยกรรม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เลเยอร์ — แยกหน้าที่ชัด, พึ่งพา Core ทางเดียว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746504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1E2127"/>
          </a:solidFill>
          <a:ln w="12700">
            <a:solidFill>
              <a:srgbClr val="FF922B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174650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util/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971800" y="16824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ไฟล์ · เครื่องมือพื้นฐาน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2971800" y="202082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GMLHelper (พอร์ตฟังก์ชัน GML) · Assets (สไปรต์/เสียง) · Audio (caster_*) · Fonts (ฟอนต์พิกเซล)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13232" y="2761488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1E2127"/>
          </a:solidFill>
          <a:ln w="12700">
            <a:solidFill>
              <a:srgbClr val="4DA6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276148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71800" y="26974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ไฟล์ · เครื่องยนต์เกม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71800" y="30358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(loop 30 FPS) · Entity/EntityManager (instance list) · GlobalState · TurnManager · Alarm/Event/Sequence · Input · Scene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02736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13232" y="3776472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1E2127"/>
          </a:solidFill>
          <a:ln w="12700">
            <a:solidFill>
              <a:srgbClr val="5BE58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13232" y="377647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battle/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971800" y="371246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ไฟล์ · ระบบต่อสู้กลาง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971800" y="40507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· BulletBoard · BattleMenu · DamageSystem · MercySystem · ActDispatcher · Karma/Ratings/Web · BossSelectMenu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3232" y="4791456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1E2127"/>
          </a:solidFill>
          <a:ln w="12700">
            <a:solidFill>
              <a:srgbClr val="C77D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" y="479145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bullet/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971800" y="472744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ไฟล์ · กระสุน/แพตเทิร์น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971800" y="506577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AttackPattern → Bullet / Generator → ตระกูลกระสุนของแต่ละบอส: bones · gaster · undyne · asgore · mettaton · muffet · toriel · asriel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632704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3232" y="5806440"/>
            <a:ext cx="2057400" cy="566928"/>
          </a:xfrm>
          <a:prstGeom prst="roundRect">
            <a:avLst>
              <a:gd name="adj" fmla="val 8065"/>
            </a:avLst>
          </a:prstGeom>
          <a:solidFill>
            <a:srgbClr val="1E2127"/>
          </a:solidFill>
          <a:ln w="12700">
            <a:solidFill>
              <a:srgbClr val="FF2E2E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13232" y="580644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boss/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971800" y="57424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 ไฟล์ · ตัวบอส 9 ตัว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2971800" y="60807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Boss/BossBody (controller+body) · Monster · BossRegistry · Papyrus · Sans · Undyne · Asgore · Mettaton EX/NEO · Muffet · Toriel · Asriel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ทิศพึ่งพา:  boss · bullet · battle  →  core  →  util   (เลเยอร์บนรู้จักล่าง ไม่ย้อนกลับ — เพิ่มบอสใหม่ไม่ต้องแก้ Core)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เลเยอร์ CORE/ — เครื่องยนต์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 — Game loop + ระบบ Entity (จำลอง GameMaker)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61772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642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Game.java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2918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ตัวแปร/ค่าคงที่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640 · HEIGHT 480 · FPS 30.0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(Scene) · input · muteToastFrames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เมธอด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start(): เปิด JFrame/Canvas + BufferStrategy แล้วเข้า loop()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loop(): fixed-timestep accumulator — เก็บเวลา, tick ทีละ 1/30 s, draw ทุกรอบ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tick(): poll input → mute → current.update()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draw(): เคลียร์จอดำ → current.render() → toast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setScene() = GML room_goto (exit→enter)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657600" cy="461772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80560" y="16642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Entity.java (abstract)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80560" y="2057400"/>
            <a:ext cx="32918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5BE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อินสแตนซ์ของ GameMaker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y · depth · destroyed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 (AlarmTimer) · events (EventUser)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5BE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วงจรชีวิตต่อเฟรม (override ได้)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beginStep() — Begin Step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— Step (บังคับ implement)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endStep() — End Step (Sans i-frame/KARMA)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render(Graphics2D) — Draw (บังคับ)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onAlarm(n) — alarm[n] ลั่น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onDestroy() — instance_destroy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611880" cy="4617720"/>
          </a:xfrm>
          <a:prstGeom prst="roundRect">
            <a:avLst>
              <a:gd name="adj" fmla="val 1772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0" y="16642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EntityManager.java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0" y="2057400"/>
            <a:ext cx="324612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GML instance list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· addQueue · destroyQueue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add()/destroy() — เข้าคิว (deferred)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with(Class, action) = with(obj){}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exists() · count() · nearest()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beginStepAll / updateAll / endStepAll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renderAll() — เรียงตาม depth แล้ววาด</a:t>
            </a:r>
            <a:endParaRPr lang="en-US" sz="1150" dirty="0"/>
          </a:p>
          <a:p>
            <a:pPr marL="165100" indent="-1651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flush() — ใส่/ลบจริงท้ายเฟรม · clear()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05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ปรับรอบนี้: pass ต่อเฟรมวน active ตรง ๆ (เลิกก็อปลิสต์) — ดูสไลด์สุดท้าย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 loop ล็อกที่ 30 FPS เป๊ะ → ค่า alarm[n] / turntimer ที่เป็น 'เฟรม' จาก GML พอร์ตมาใช้ได้ตรง ๆ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เลเยอร์ CORE/ — เครื่องยนต์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 — ตัวจับเวลา · อีเวนต์ · คัตซีน · อินพุต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2212848"/>
          </a:xfrm>
          <a:prstGeom prst="roundRect">
            <a:avLst>
              <a:gd name="adj" fmla="val 2893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642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AlarmTimer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291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จำลอง alarm[0..11] (COUNT=12, OFF=-1)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set(n,frames) · get(n) · cancel(n) · isActive(n)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tick(): นับถอยหลังทุกเฟรม, ถึง 0 → owner.onAlarm(n) แล้วปิดตัวเอง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657600" cy="2212848"/>
          </a:xfrm>
          <a:prstGeom prst="roundRect">
            <a:avLst>
              <a:gd name="adj" fmla="val 2893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80560" y="16642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EventUser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80560" y="2057400"/>
            <a:ext cx="32918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จำลอง event_user(0..15) ของ GML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register(n, Runnable) · fire(n) · has(n)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ใช้เป็น 'ประตูเข้า' sub-state เช่น Undyne 2=spear, 13=melt, 14=siner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611880" cy="2212848"/>
          </a:xfrm>
          <a:prstGeom prst="roundRect">
            <a:avLst>
              <a:gd name="adj" fmla="val 2893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0" y="166420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0" y="2057400"/>
            <a:ext cx="324612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ตัวช่วยคัตซีน แทนตัวนับ con/death_c/trcon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at(step, action) · step() · setStep() · advance()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whenWriterDone(gate): รอ writer พิมพ์จบค่อยเดิน step ถัดไป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04488"/>
            <a:ext cx="5486400" cy="2267712"/>
          </a:xfrm>
          <a:prstGeom prst="roundRect">
            <a:avLst>
              <a:gd name="adj" fmla="val 2823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401421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InputHandler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4407408"/>
            <a:ext cx="512064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คีย์ → keyboard_check / keyboard_check_pressed ของ GML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poll() snapshot 1 ครั้ง/เฟรม → held() (กดค้าง), pressed() (ขอบ), released()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เป็นทั้ง KeyListener + KeyEventDispatcher — รับคีย์ทั้งหน้าต่าง กันโฟกัสหลุดบน macOS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ลูกศร/WASD เดิน · Z/Enter/Space ยืนยัน · X/Shift ยกเลิก · C เมนู · ESC พอส · M mute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904488"/>
            <a:ext cx="5532120" cy="2267712"/>
          </a:xfrm>
          <a:prstGeom prst="roundRect">
            <a:avLst>
              <a:gd name="adj" fmla="val 2823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09360" y="401421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Scene (interface)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4407408"/>
            <a:ext cx="51663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หน้าจอระดับบนสุด = GML room (ขับโดย Game loop)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enter() — เข้าฉาก · exit() — ออก (คืน resource เช่นเพลง)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— 1 logic step · render(Graphics2D) — วาด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ฉากจริง: BossSelectMenu (เลือกบอส/ตั้งสเตตัส) และ BattleScene (สู้)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เลเยอร์ CORE/ — ศูนย์รวมข้อมูล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GlobalState — บ้านเดียวของทุกตัวแปร global.*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กฎเหล็ก: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ไม่มีคลาสไหนเก็บสำเนา global — ทุกระบบอ่าน/เขียนผ่าน GlobalState.get() (singleton) เลียนแบบ scope global เดียวของ GML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21408"/>
            <a:ext cx="3584448" cy="1755648"/>
          </a:xfrm>
          <a:prstGeom prst="roundRect">
            <a:avLst>
              <a:gd name="adj" fmla="val 3646"/>
            </a:avLst>
          </a:prstGeom>
          <a:solidFill>
            <a:srgbClr val="16181D"/>
          </a:solidFill>
          <a:ln w="12700">
            <a:solidFill>
              <a:srgbClr val="FFD43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23113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state machine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15184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mnfight  myfight  turntimer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firingrate  bmenuno  bmenucoord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attacked  inbattle  attacktype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88536" y="2121408"/>
            <a:ext cx="3584448" cy="1755648"/>
          </a:xfrm>
          <a:prstGeom prst="roundRect">
            <a:avLst>
              <a:gd name="adj" fmla="val 3646"/>
            </a:avLst>
          </a:prstGeom>
          <a:solidFill>
            <a:srgbClr val="16181D"/>
          </a:solidFill>
          <a:ln w="12700">
            <a:solidFill>
              <a:srgbClr val="5BE584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71416" y="223113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E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stats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71416" y="2615184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hp  maxhp  at  df  lv  xp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  (i-frames)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  (KARMA poison — Sans)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28432" y="2121408"/>
            <a:ext cx="3584448" cy="1755648"/>
          </a:xfrm>
          <a:prstGeom prst="roundRect">
            <a:avLst>
              <a:gd name="adj" fmla="val 3646"/>
            </a:avLst>
          </a:prstGeom>
          <a:solidFill>
            <a:srgbClr val="16181D"/>
          </a:solidFill>
          <a:ln w="12700">
            <a:solidFill>
              <a:srgbClr val="4DA6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11312" y="223113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box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1312" y="2615184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idealborder[4]=ซ้าย/ขวา/บน/ล่าง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 (preset index)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darkify  shakify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41648"/>
            <a:ext cx="3584448" cy="1755648"/>
          </a:xfrm>
          <a:prstGeom prst="roundRect">
            <a:avLst>
              <a:gd name="adj" fmla="val 3646"/>
            </a:avLst>
          </a:prstGeom>
          <a:solidFill>
            <a:srgbClr val="16181D"/>
          </a:solidFill>
          <a:ln w="12700">
            <a:solidFill>
              <a:srgbClr val="FF2E2E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415137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Monster slots (×16)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535424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monsterhp[] monstermaxhp[]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monsteratk[] monsterdef[]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myself  mercy  mercymod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88536" y="4041648"/>
            <a:ext cx="3584448" cy="1755648"/>
          </a:xfrm>
          <a:prstGeom prst="roundRect">
            <a:avLst>
              <a:gd name="adj" fmla="val 3646"/>
            </a:avLst>
          </a:prstGeom>
          <a:solidFill>
            <a:srgbClr val="16181D"/>
          </a:solidFill>
          <a:ln w="12700">
            <a:solidFill>
              <a:srgbClr val="C77DFF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71416" y="415137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71416" y="4535424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faceemotion  hurtanim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damagetimer  ratings (EX)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hope (Asriel)  fivedamage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28432" y="4041648"/>
            <a:ext cx="3584448" cy="1755648"/>
          </a:xfrm>
          <a:prstGeom prst="roundRect">
            <a:avLst>
              <a:gd name="adj" fmla="val 3646"/>
            </a:avLst>
          </a:prstGeom>
          <a:solidFill>
            <a:srgbClr val="16181D"/>
          </a:solidFill>
          <a:ln w="12700">
            <a:solidFill>
              <a:srgbClr val="FF922B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11312" y="415137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+ run state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11312" y="4535424"/>
            <a:ext cx="3273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  takedamage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flag[1000]  tempvalue[100]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kills  murderlv  osflavor  battlegroup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เมธอด:  newGame() รีเซ็ตทั้งหมด (เริ่มโปรเซส)  ·  enterBattle(group) ตั้งค่าเริ่มต้นต่อการต่อสู้  ·  get() คืน singleton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เลเยอร์ CORE/ — กลไกเทิร์น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TurnManager — สเตตแมชชีนของ global.mnfight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ที่เดียวที่ตีความค่าเฟส mnfight + เป็นเจ้าของ boilerplate เทิร์น (รีเซ็ต attacked, นับ turntimer, จบเทิร์นกลับเมนู) — บอสเสียบงานผ่าน hook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7040880" cy="585216"/>
          </a:xfrm>
          <a:prstGeom prst="roundRect">
            <a:avLst>
              <a:gd name="adj" fmla="val 9375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58368" y="2103120"/>
            <a:ext cx="585216" cy="402336"/>
          </a:xfrm>
          <a:prstGeom prst="roundRect">
            <a:avLst>
              <a:gd name="adj" fmla="val 11364"/>
            </a:avLst>
          </a:prstGeom>
          <a:solidFill>
            <a:srgbClr val="FFD43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58368" y="2103120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9888" y="201168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10128" y="2011680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บอสเล่นคัตซีนเปิด · รอ introComplete() → เริ่มเทิร์นผู้เล่น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88336"/>
            <a:ext cx="7040880" cy="585216"/>
          </a:xfrm>
          <a:prstGeom prst="roundRect">
            <a:avLst>
              <a:gd name="adj" fmla="val 9375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8368" y="2779776"/>
            <a:ext cx="585216" cy="402336"/>
          </a:xfrm>
          <a:prstGeom prst="roundRect">
            <a:avLst>
              <a:gd name="adj" fmla="val 11364"/>
            </a:avLst>
          </a:prstGeom>
          <a:solidFill>
            <a:srgbClr val="4DA6FF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8368" y="2779776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89888" y="2688336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10128" y="2688336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เมนูคำสั่งผู้เล่น (FIGHT/ACT/ITEM/MERCY) ขับตัวเอง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364992"/>
            <a:ext cx="7040880" cy="585216"/>
          </a:xfrm>
          <a:prstGeom prst="roundRect">
            <a:avLst>
              <a:gd name="adj" fmla="val 9375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58368" y="3456432"/>
            <a:ext cx="585216" cy="402336"/>
          </a:xfrm>
          <a:prstGeom prst="roundRect">
            <a:avLst>
              <a:gd name="adj" fmla="val 11364"/>
            </a:avLst>
          </a:prstGeom>
          <a:solidFill>
            <a:srgbClr val="FF922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" y="3456432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89888" y="336499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ENTER_ENEMY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310128" y="336499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attacked=0 → chooseAttack() → ตั้ง mnfight=1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41648"/>
            <a:ext cx="7040880" cy="585216"/>
          </a:xfrm>
          <a:prstGeom prst="roundRect">
            <a:avLst>
              <a:gd name="adj" fmla="val 9375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8368" y="4133088"/>
            <a:ext cx="585216" cy="402336"/>
          </a:xfrm>
          <a:prstGeom prst="roundRect">
            <a:avLst>
              <a:gd name="adj" fmla="val 11364"/>
            </a:avLst>
          </a:prstGeom>
          <a:solidFill>
            <a:srgbClr val="FF2E2E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8368" y="413308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89888" y="404164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ENEMY_TURN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310128" y="4041648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กระสุนบิน · นับ turntimer ลง · ถึง 0 → endEnemyTurn()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718304"/>
            <a:ext cx="7040880" cy="585216"/>
          </a:xfrm>
          <a:prstGeom prst="roundRect">
            <a:avLst>
              <a:gd name="adj" fmla="val 9375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58368" y="4809744"/>
            <a:ext cx="585216" cy="402336"/>
          </a:xfrm>
          <a:prstGeom prst="roundRect">
            <a:avLst>
              <a:gd name="adj" fmla="val 11364"/>
            </a:avLst>
          </a:prstGeom>
          <a:solidFill>
            <a:srgbClr val="5BE584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58368" y="4809744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89888" y="471830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ACT_SPARE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310128" y="4718304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resolveActOrSpare(): ตัดสิน ACT/SPARE แล้วไปต่อ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394960"/>
            <a:ext cx="7040880" cy="585216"/>
          </a:xfrm>
          <a:prstGeom prst="roundRect">
            <a:avLst>
              <a:gd name="adj" fmla="val 9375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58368" y="5486400"/>
            <a:ext cx="585216" cy="402336"/>
          </a:xfrm>
          <a:prstGeom prst="roundRect">
            <a:avLst>
              <a:gd name="adj" fmla="val 11364"/>
            </a:avLst>
          </a:prstGeom>
          <a:solidFill>
            <a:srgbClr val="C77DFF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8368" y="5486400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89888" y="539496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SPECIAL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310128" y="5394960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ร่าง/transform พิเศษ (onSpecial) — บอสขับเต็มตัว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818120" y="2011680"/>
            <a:ext cx="3813048" cy="2788920"/>
          </a:xfrm>
          <a:prstGeom prst="roundRect">
            <a:avLst>
              <a:gd name="adj" fmla="val 2295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001000" y="2121408"/>
            <a:ext cx="3447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 (เสียบโดย BattleScene)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8001000" y="2514600"/>
            <a:ext cx="3447288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introComplete — อินโทรจบหรือยัง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chooseAttack — บอสเลือกท่าโจมตีเทิร์นนี้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resolveActOrSpare — ตัดสิน ACT/SPARE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onSpecial — ตัวจัดการร่างพิเศษ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TurnManager ไม่อ้าง boss/menu ตรง ๆ เลย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818120" y="4919472"/>
            <a:ext cx="3813048" cy="1371600"/>
          </a:xfrm>
          <a:prstGeom prst="roundRect">
            <a:avLst>
              <a:gd name="adj" fmla="val 4667"/>
            </a:avLst>
          </a:prstGeom>
          <a:solidFill>
            <a:srgbClr val="1E2127"/>
          </a:solidFill>
          <a:ln w="12700">
            <a:solidFill>
              <a:srgbClr val="FFD43B">
                <a:alpha val="7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001000" y="50292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startPlayerTurn() → mnfight=2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endEnemyTurn() → turntimer=0, กลับเมนู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isEnemyTurn() / isPlayerMenu()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ค่าลบ (-1, -99) = เฟสแช่แข็งระหว่างคัตซีนตาย/แปลงร่าง — มีแต่ Sequence ของบอสที่รัน ไม่มีตรรกะเทิร์น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เลเยอร์ BATTLE/ — หัวใจผู้เล่น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(obj_heart) + SoulMode — 5 โหมดเคลื่อนที่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6858000" cy="640080"/>
          </a:xfrm>
          <a:prstGeom prst="roundRect">
            <a:avLst>
              <a:gd name="adj" fmla="val 8571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784909"/>
            <a:ext cx="190195" cy="201168"/>
          </a:xfrm>
          <a:prstGeom prst="ellipse">
            <a:avLst/>
          </a:prstGeom>
          <a:solidFill>
            <a:srgbClr val="FF2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88797" y="1784909"/>
            <a:ext cx="190195" cy="201168"/>
          </a:xfrm>
          <a:prstGeom prst="ellipse">
            <a:avLst/>
          </a:prstGeom>
          <a:solidFill>
            <a:srgbClr val="FF2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 rot="10800000">
            <a:off x="742493" y="1865376"/>
            <a:ext cx="307238" cy="226771"/>
          </a:xfrm>
          <a:prstGeom prst="triangle">
            <a:avLst/>
          </a:prstGeom>
          <a:solidFill>
            <a:srgbClr val="FF2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07008" y="157276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14600" y="157276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free-move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157276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ขยับอิสระในกล่อง — Asgore, Undyne, Sans (เฟสจริง)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6858000" cy="640080"/>
          </a:xfrm>
          <a:prstGeom prst="roundRect">
            <a:avLst>
              <a:gd name="adj" fmla="val 8571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13232" y="2498141"/>
            <a:ext cx="190195" cy="201168"/>
          </a:xfrm>
          <a:prstGeom prst="ellipse">
            <a:avLst/>
          </a:prstGeom>
          <a:solidFill>
            <a:srgbClr val="4DA6F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88797" y="2498141"/>
            <a:ext cx="190195" cy="201168"/>
          </a:xfrm>
          <a:prstGeom prst="ellipse">
            <a:avLst/>
          </a:prstGeom>
          <a:solidFill>
            <a:srgbClr val="4DA6F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10800000">
            <a:off x="742493" y="2578608"/>
            <a:ext cx="307238" cy="226771"/>
          </a:xfrm>
          <a:prstGeom prst="triangle">
            <a:avLst/>
          </a:prstGeom>
          <a:solidFill>
            <a:srgbClr val="4DA6F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07008" y="2286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22860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+ jump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286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แรงโน้มถ่วง+กระโดด (4 ทิศ) — Papyrus, Sans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999232"/>
            <a:ext cx="6858000" cy="640080"/>
          </a:xfrm>
          <a:prstGeom prst="roundRect">
            <a:avLst>
              <a:gd name="adj" fmla="val 8571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13232" y="3211373"/>
            <a:ext cx="190195" cy="201168"/>
          </a:xfrm>
          <a:prstGeom prst="ellipse">
            <a:avLst/>
          </a:prstGeom>
          <a:solidFill>
            <a:srgbClr val="5BE584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88797" y="3211373"/>
            <a:ext cx="190195" cy="201168"/>
          </a:xfrm>
          <a:prstGeom prst="ellipse">
            <a:avLst/>
          </a:prstGeom>
          <a:solidFill>
            <a:srgbClr val="5BE584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rot="10800000">
            <a:off x="742493" y="3291840"/>
            <a:ext cx="307238" cy="226771"/>
          </a:xfrm>
          <a:prstGeom prst="triangle">
            <a:avLst/>
          </a:prstGeom>
          <a:solidFill>
            <a:srgbClr val="5BE584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207008" y="29992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14600" y="299923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block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9992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ยืนกับที่ หันโล่บล็อกหอก — Undyne ทั้งสอง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712464"/>
            <a:ext cx="6858000" cy="640080"/>
          </a:xfrm>
          <a:prstGeom prst="roundRect">
            <a:avLst>
              <a:gd name="adj" fmla="val 8571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13232" y="3924605"/>
            <a:ext cx="190195" cy="20116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88797" y="3924605"/>
            <a:ext cx="190195" cy="201168"/>
          </a:xfrm>
          <a:prstGeom prst="ellipse">
            <a:avLst/>
          </a:prstGeom>
          <a:solidFill>
            <a:srgbClr val="FFD43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rot="10800000">
            <a:off x="742493" y="4005072"/>
            <a:ext cx="307238" cy="226771"/>
          </a:xfrm>
          <a:prstGeom prst="triangle">
            <a:avLst/>
          </a:prstGeom>
          <a:solidFill>
            <a:srgbClr val="FFD43B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207008" y="371246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YELLOW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514600" y="371246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14800" y="37124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ล็อกล่าง ยิงขึ้น — Mettaton EX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425696"/>
            <a:ext cx="6858000" cy="640080"/>
          </a:xfrm>
          <a:prstGeom prst="roundRect">
            <a:avLst>
              <a:gd name="adj" fmla="val 8571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13232" y="4637837"/>
            <a:ext cx="190195" cy="201168"/>
          </a:xfrm>
          <a:prstGeom prst="ellipse">
            <a:avLst/>
          </a:prstGeom>
          <a:solidFill>
            <a:srgbClr val="C77DF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88797" y="4637837"/>
            <a:ext cx="190195" cy="201168"/>
          </a:xfrm>
          <a:prstGeom prst="ellipse">
            <a:avLst/>
          </a:prstGeom>
          <a:solidFill>
            <a:srgbClr val="C77DF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rot="10800000">
            <a:off x="742493" y="4718304"/>
            <a:ext cx="307238" cy="226771"/>
          </a:xfrm>
          <a:prstGeom prst="triangle">
            <a:avLst/>
          </a:prstGeom>
          <a:solidFill>
            <a:srgbClr val="C77DFF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207008" y="442569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PURPLE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514600" y="442569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web-lock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0" y="442569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ผูกกับเส้นใย กระโดดข้ามเส้น — Muffet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635240" y="1572768"/>
            <a:ext cx="3995928" cy="2240280"/>
          </a:xfrm>
          <a:prstGeom prst="roundRect">
            <a:avLst>
              <a:gd name="adj" fmla="val 2857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818120" y="1682496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ฟิลด์สำคัญ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7818120" y="2075688"/>
            <a:ext cx="363016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HALF=8 (hitbox) · mode · movement · hspeed/vspeed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jumpStage (1 grounded / 2 airborne) · facing/shieldDir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web/webYno/webMoving (ม่วง) · shot/firedThisFrame (เหลือง)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· ignoreBorder · imageAlpha (เฟดคัตซีน)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635240" y="3931920"/>
            <a:ext cx="3995928" cy="2240280"/>
          </a:xfrm>
          <a:prstGeom prst="roundRect">
            <a:avLst>
              <a:gd name="adj" fmla="val 2857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818120" y="4041648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เมธอด/พฤติกรรม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818120" y="4434840"/>
            <a:ext cx="363016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แยกตาม mode → updateRed/Blue/Green/Yellow/Purple()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hurt(dmg): ตั้ง takedamage + i-frame (อ่านโดย DamageSystem)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อ่านขอบกล่องจาก GlobalState.idealborder ตรง ๆ (ไม่ผูก input/box)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 input ผ่านฟิลด์ leftHeld/…/confirmPressed ที่ BattleScene ป้อน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SoulMode (enum) ผูกค่า GML movement (1/2/11/12/13/3/4) + ชื่อสไปรต์ → โค้ดบอสที่อ้าง obj_heart.movement พอร์ตตรง 1:1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เลเยอร์ BATTLE/ — กล่อง + เมนู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BulletBoard (กล่องต่อสู้) + BattleMenu (เมนูคำสั่ง)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0" cy="4617720"/>
          </a:xfrm>
          <a:prstGeom prst="roundRect">
            <a:avLst>
              <a:gd name="adj" fmla="val 1386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824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BulletBoard.java  (obj_borderparent)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51206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4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กล่องต่อสู้ = ระบบ idealborder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ideal[4] = กล่องเป้าหมายที่บอสตั้ง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cur[4] = กล่องปัจจุบันที่ค่อย ๆ lerp เข้าหา ideal (นุ่มนวล)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เขียน cur กลับ GlobalState.idealborder ทุกเฟรม → เป็นแหล่งเดียวที่ soul + กระสุนทุกตัวอ่าน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menuMode: ช่วงเทิร์นผู้เล่น ขยายเป็นกล่องเมนู (MENU_BOX 40,600,250,385)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instaSnap: snap ทันทีแทน lerp · lerpSpeed=0.25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climbTop: เพดานวิ่งตาม soul (Papyrus super-bone)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 (องศา): เอียงกล่องเชิงภาพ (Muffet pet) — logic ยังแกนตรง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snapToCombat(): หดกลับกล่องสู้ก่อนสแปวน์กระสุน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6126480" y="1572768"/>
            <a:ext cx="5504688" cy="4617720"/>
          </a:xfrm>
          <a:prstGeom prst="roundRect">
            <a:avLst>
              <a:gd name="adj" fmla="val 1386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09360" y="1682496"/>
            <a:ext cx="513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BattleMenu.java  (bmenu + attack bar)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09360" y="2075688"/>
            <a:ext cx="513892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เมนูคำสั่งผู้เล่น ทำงานช่วง mnfight==2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/ ACT / ITEM / MERCY + ซับเมนู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แถบจับจังหวะตี (attack bar) → ความแม่น 0..1 ส่งให้ onFight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ข้อความผล 'กด Z เพื่อไปต่อ' — เทิร์นยังอยู่ที่ผู้เล่นจนกดปิด</a:t>
            </a:r>
            <a:endParaRPr lang="en-US" sz="113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(BattleScene เสียบ)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onFight(accuracy) — คำนวณดาเมจ + เล่นสไตรก์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onItem() — ไม่มีไอเทมในโหมด rush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onSpare() — ไว้ชีวิตถ้า mercy.canSpare()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flavor() — ดึง boss.message มาโชว์ในกล่อง</a:t>
            </a:r>
            <a:endParaRPr lang="en-US" sz="113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reset() — รีเซ็ตเมนูเมื่อกลับมาเทิร์นผู้เล่น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เมนูสื่อสารกับ TurnManager ผ่าน GlobalState.myfight/mnfight เท่านั้น → TurnManager ไม่ต้องรู้จักเมนู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เลเยอร์ BATTLE/ — ดาเมจ · ไว้ชีวิต · 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DamageSystem · MercySystem · ActDispatcher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0" cy="4617720"/>
          </a:xfrm>
          <a:prstGeom prst="roundRect">
            <a:avLst>
              <a:gd name="adj" fmla="val 1386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824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DamageSystem.java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51206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ผู้เล่นโดน (scr_damagestandard)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resolve(): ถ้า takedamage → applyPlayerDamage(); นับ inv (i-frame) + damagetimer ลง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สูตร: taken = max(1, dmg − (df+(lv−1))/5) → snd_hurt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ผู้เล่นตีมอนสเตอร์ (scr_attackcalc)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monsterHurt(slot, timing): dmg=(at+rnd)−def, คูณ skill-check (กลางแถบ=เต็ม, ขอบ=40%)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ต่อบอส (ตั้งใน setup)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forcedKill (NEO one-hit) · playerDamageMultiplier ×21 + min 600 (Undyne)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fivedamageThreshold (Asgore 'เหลือ HP ต่ำ') · karma (KarmaTicker, End-Step)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572768"/>
            <a:ext cx="2743200" cy="4617720"/>
          </a:xfrm>
          <a:prstGeom prst="roundRect">
            <a:avLst>
              <a:gd name="adj" fmla="val 2333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09360" y="16824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MercySystem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09360" y="2075688"/>
            <a:ext cx="2377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FULL=100 · BROKEN=2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ถึง 100 = spare ได้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mercymod ต่อบอส: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Papyrus 8000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999999 (∞)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 −999999 (ไม่ได้)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Asgore broken (ซ่อนปุ่ม)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addMercy() · canSpare() · setBrokenMercy()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61120" y="1572768"/>
            <a:ext cx="2670048" cy="4617720"/>
          </a:xfrm>
          <a:prstGeom prst="roundRect">
            <a:avLst>
              <a:gd name="adj" fmla="val 2397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0" y="1682496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ActDispatcher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0" y="2075688"/>
            <a:ext cx="230428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แปลง ACT option → id 'whatiheard'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ส่งให้ boss.onAct()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setOptions(labels, ids)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choose(index)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checkText (CHECK)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กราฟ ACT จริงอยู่ใน onAct ของแต่ละบอส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ทั้งสามระบบไม่ผูกกับบอสตัวใดตัวหนึ่ง — บอสตั้งค่า override/option ตอน setup แล้วระบบทำงานเหมือนกันทุกฉาก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เลเยอร์ BATTLE/ — ชิ้นส่วนเฉพาะฉาก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ตัวช่วยเฉพาะบอส + ฉากเลือกบอส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86400" cy="1389888"/>
          </a:xfrm>
          <a:prstGeom prst="roundRect">
            <a:avLst>
              <a:gd name="adj" fmla="val 3947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824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BorderSetup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48256"/>
            <a:ext cx="5138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 preset SCR_BORDERSETUP: map global.border → พิกัดกล่อง [ซ้าย,ขวา,บน,ล่าง] (ค่ามาตรฐาน + Undyne 12/13, rising 14, Asgore 29/30)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5486400" cy="1389888"/>
          </a:xfrm>
          <a:prstGeom prst="roundRect">
            <a:avLst>
              <a:gd name="adj" fmla="val 3947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2186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KarmaTicker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84448"/>
            <a:ext cx="5138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พิษ KARMA ('KR') ของ Sans. ขณะ km&gt;0 เลือด drain ตามเวลา (rate ขึ้นกับ km + i-frame) แต่ไม่ฆ่าตรง (floor ที่ 1). tick() รันใน End-Step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48640" y="4645152"/>
            <a:ext cx="5486400" cy="1389888"/>
          </a:xfrm>
          <a:prstGeom prst="roundRect">
            <a:avLst>
              <a:gd name="adj" fmla="val 3947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47548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RatingsMaster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5138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มิเตอร์เรตติ้ง Mettaton EX (เริ่ม 4000) — เงื่อนไขชนะแทน HP. คิวเดลตา 'Fashion +1500…' + กราฟ. โดนตี/Boast/idle ขยับเรตติ้ง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199632" y="1572768"/>
            <a:ext cx="5486400" cy="1389888"/>
          </a:xfrm>
          <a:prstGeom prst="roundRect">
            <a:avLst>
              <a:gd name="adj" fmla="val 3947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82512" y="168249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82512" y="2048256"/>
            <a:ext cx="5138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เส้นใยม่วงของ Muffet — เก็บ geometry เส้น (xmid/xlen/yzero/yspace/yamt/yoff) ที่ soul ผูกและกระสุนทุกตัววิ่งตาม + วาดเส้น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199632" y="3108960"/>
            <a:ext cx="5486400" cy="1389888"/>
          </a:xfrm>
          <a:prstGeom prst="roundRect">
            <a:avLst>
              <a:gd name="adj" fmla="val 3947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82512" y="32186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MonsterKid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2512" y="3584448"/>
            <a:ext cx="5138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ตัวประกอบหน้าจอเลือกบอส — เดินไปมาแล้วสะดุดล้ม (spr_mkid_trip) ไม่มีผลเกมเพลย์ เป็นมุกตลก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6199632" y="4645152"/>
            <a:ext cx="5486400" cy="1389888"/>
          </a:xfrm>
          <a:prstGeom prst="roundRect">
            <a:avLst>
              <a:gd name="adj" fmla="val 3947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7548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BossSelectMenu (Scene)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82512" y="5120640"/>
            <a:ext cx="51389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หน้าไตเติล/เลือกบอส — seed สเตตัสเอง (ไม่มีเนื้อเรื่อง): เลือก BOSS · MAX HP (LV preset) · MODE NORMAL/GENOCIDE (seed murderlv สูง)</a:t>
            </a:r>
            <a:endParaRPr lang="en-US" sz="11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เลเยอร์ BOSS/ — สถาปัตยกรรม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boss/ — แยก Controller (ตรรกะ) ออกจาก Body (ภาพ)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32120" cy="2194560"/>
          </a:xfrm>
          <a:prstGeom prst="roundRect">
            <a:avLst>
              <a:gd name="adj" fmla="val 2917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64208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 (abstract) — Controller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516636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ครึ่ง 'ตรรกะเทิร์น'. Core เรียก SPI: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 — scr_monstersetup, ตั้งโหมด soul/border/mercymod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chooseAttack() — เลือก+สแปวน์ท่า, ตั้ง turntimer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onAct() · onSpare() · onDamaged() · onDefeat() · onSpecial() · introComplete()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ฟิลด์: stats(Monster) · body · turns · battleOver · message/dialogue/banner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attach(soul, board, damage, mercy, act) ฉีดระบบให้ก่อน setup()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55080" y="1664208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BossBody (abstract) — Body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55080" y="2057400"/>
            <a:ext cx="50749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9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ครึ่ง 'ภาพ + sub-state ท่าโจมตี'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วาดสไปรต์หลายชิ้น (ขา/ตัว/แขน/หน้า/เหงื่อ…)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setAttack(selector): controller ดันค่าเข้ามา (GML a_type/fighto/attacktype)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 sub-state ของท่าโจมตี (บอสที่แพตเทิร์นอยู่ใน body เช่น Sans, Undyne)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Papyrus body = ภาพล้วน, controller สแปวน์กระดูกเอง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2788920" cy="2286000"/>
          </a:xfrm>
          <a:prstGeom prst="roundRect">
            <a:avLst>
              <a:gd name="adj" fmla="val 2800"/>
            </a:avLst>
          </a:prstGeom>
          <a:solidFill>
            <a:srgbClr val="1E2127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399592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Monster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24231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บล็อกสเตตัส 1 สล็อต: name · maxhp · atk · def · xpreward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setup()=scr_monstersetup (ยัดสเตตัสลง slot)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defeat()=scr_monsterdefeat (ให้ XP)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hp()/setHp() อ่าน-เขียน slot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3886200"/>
            <a:ext cx="2788920" cy="2286000"/>
          </a:xfrm>
          <a:prstGeom prst="roundRect">
            <a:avLst>
              <a:gd name="adj" fmla="val 2800"/>
            </a:avLst>
          </a:prstGeom>
          <a:solidFill>
            <a:srgbClr val="1E2127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11880" y="399592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BossRegistry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11880" y="4389120"/>
            <a:ext cx="24231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battlegroup → factory (=scr_battlegroup)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เพิ่มบอส = 1 บรรทัด ไม่แตะ Core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1=Pap 2=Sans 3=Asgore 4=Undyne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5=NEO 6=EX 7=Muffet 8=Toriel 9=Asriel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886200"/>
            <a:ext cx="5321808" cy="2286000"/>
          </a:xfrm>
          <a:prstGeom prst="roundRect">
            <a:avLst>
              <a:gd name="adj" fmla="val 2800"/>
            </a:avLst>
          </a:prstGeom>
          <a:solidFill>
            <a:srgbClr val="1E2127"/>
          </a:solidFill>
          <a:ln w="12700">
            <a:solidFill>
              <a:srgbClr val="FF2E2E">
                <a:alpha val="7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92240" y="39959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ทำไมต้องแยก Controller / Body?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389120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ตรงกับ GML ที่บอส = object คุมเทิร์น + object_body วาดสไปรต์หลายชิ้น แยกกัน · ตรรกะเทิร์น (เลือกท่า, ACT, ตาย) อยู่ฝั่ง controller ส่วนแอนิเมชัน/การชนของท่า อยู่ฝั่ง body · ทั้งคู่คุยกันผ่าน setAttack() + GlobalState</a:t>
            </a:r>
            <a:endParaRPr lang="en-US" sz="11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เจาะลึกบอส 1/6 — บอสตัวแรก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Toriel (obj_torielboss) — ไฟกับมือ, มีทางออก 2 ทาง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440 / ATK 6 / DEF 1 ด่านไฟและมือกวาดยาว ๆ มีทางผ่าน 2 ทาง: ตีจนเลือดต่ำจนกับดัก DEF ทำให้หมัดถัดไปฆ่าได้ หรือปฏิเสธที่จะสู้จนเธอยอมแพ้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532120" cy="1874520"/>
          </a:xfrm>
          <a:prstGeom prst="roundRect">
            <a:avLst>
              <a:gd name="adj" fmla="val 3415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258568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กลไกหลัก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516636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หัวใจ RED; ทุกเทิร์นสุ่ม mycommand (0–100) → 1 ใน 5 ท่า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helix / mini-helix / helix โปร่ง ในกล่องสูง (border 7); มือกวาด 1–2 ข้างในกล่องเตี้ยกว้าง (border 6)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มือปล่อยไฟตามเป้า (chase-fire) — ภัยหลักเมื่อตัด Faltering ออก; เสาไฟไซน์เลื่อนซ้าย↔ขวา ไม่มีจุดปลอดภัย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532120" cy="2057400"/>
          </a:xfrm>
          <a:prstGeom prst="roundRect">
            <a:avLst>
              <a:gd name="adj" fmla="val 3111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4224528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ทางออก 2 ทาง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51663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ฆ่า: HP ≤ 150 ทำให้ DEF ร่วงเป็น −140 — หมัดถัดไปมักฆ่าได้ (กับดักคลาสสิก) แล้วเล่นบทพูดตอนตาย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ไว้ชีวิต: กดปุ่ม SPARE ไม่ได้ (mercymod −20000); ปฏิเสธจะสู้ ตัวนับ conversation จะไต่บทพูดเร่งเร้า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 conversation 13 เธอหยุดโจมตีและเล่นบทยอมแพ้ → ชนะด้วยความเมตตา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148840"/>
            <a:ext cx="5440680" cy="4023360"/>
          </a:xfrm>
          <a:prstGeom prst="roundRect">
            <a:avLst>
              <a:gd name="adj" fmla="val 1591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55080" y="2258568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เมธอดที่ override / SPI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55080" y="2651760"/>
            <a:ext cx="507492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musicPath() — ธีม Heartache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 — HP 440, หัวใจ RED, border 6, mercymod −20000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chooseAttack() — สุ่ม mycommand, เลือกกล่อง + ท่า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onDamaged() — สั่นตอนเจ็บ; HP ≤ 150 → DEF −140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onAct() — Check / Talk (flavor; ใช้เทิร์นทั้งคู่)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onDefeat() — คัตซีนบทพูดตอนตาย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— ขับบทพูดยอมแพ้ / ตอนตาย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render() — ตัว body (TorielBody) เป็นคนวาด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GENOCIDE: murderlv ≥ 1 → DEF −9999, ฆ่าได้หมัดเดียว + บทพูดตอนตายแบบเย็นชา 'เกลียดฉันถึงขนาดนั้นเลยหรือ?'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438 บรรทัด — บอสตัวแรก · พอร์ต fire-helix + มือกวาดครบ · bullet/toriel (FireHelix · MiniHelix · ChaseFire · HandBullet) · เส้นทางไว้ชีวิตแบบปฏิเสธจะสู้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เจาะลึกบอส 2/6 — หัวใจสีฟ้า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Papyrus (obj_papyrusboss) — แนะนำ BLUE SOUL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ATK 20 / DEF 20 (โชว์) แต่โจมตีแทบไม่เจ็บ และ 'ชนะด้วย FIGHT ไม่ได้' — เป็นด่านกระดูกที่จบเมื่อ Papyrus หมดท่า แล้วยอมไว้ชีวิต (MERCY)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532120" cy="1874520"/>
          </a:xfrm>
          <a:prstGeom prst="roundRect">
            <a:avLst>
              <a:gd name="adj" fmla="val 3415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258568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กลไกหลัก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516636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ตัวนับ fighto (−1 → 17): เลือก layout กระดูกแต่ละเทิร์น แล้ว self-advance (ตรงกับ mnfight==2 ของ GML)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SOUL ครั้งแรก: แรงโน้มถ่วงลง + กดขึ้นกระโดดข้ามกระดูก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สแปวน์กระดูกเอง (body เป็นภาพล้วน), layout ถอดพิกัดตรงจาก enumb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5532120" cy="2057400"/>
          </a:xfrm>
          <a:prstGeom prst="roundRect">
            <a:avLst>
              <a:gd name="adj" fmla="val 3111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4224528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คัตซีน Annoying Dog (special attack)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516636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blt_tobydogbone: หมาขโมยกระดูก 'special attack'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ขับด้วย bonetalk state machine + AnnoyingDog (EAT→SURPRISE→SCOOT)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จบด้วย 'regular attack' แล้ว Papyrus ยอมไว้ชีวิต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2148840"/>
            <a:ext cx="5440680" cy="4023360"/>
          </a:xfrm>
          <a:prstGeom prst="roundRect">
            <a:avLst>
              <a:gd name="adj" fmla="val 1591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55080" y="2258568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เมธอด/SPI ที่ override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55080" y="2651760"/>
            <a:ext cx="507492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musicPath() — เพลง Bonetrousle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chooseAttack() — เลือก layout ตาม fighto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— ขับคัตซีน bonetalk/หมา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onAct(whatiheard) — กราฟ ACT (flirt ฯลฯ)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onSpare() — รับการไว้ชีวิต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onDefeat() — คัตซีนหัวขาด (decapitation) ก่อนจบเอง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introComplete() — เปิดเมนูเมื่ออินโทรจบ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render() — วาดบอส + กระดูก (~500 บรรทัด)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โหมด GENOCIDE: murderlv ≥ 7 → ล้มหมัดเดียว + บทพูด 'I believe in you' เปลี่ยนไป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868 บรรทัด — ใช้ระบบ Core ครบ: BLUE soul · fighto state machine · Sequence (bonetalk) · AnnoyingDog entity · กระดูกจาก bullet/bones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เจาะลึกบอส 3/6 — ยากที่สุด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(obj_sansb) — KARMA · Gaster Blaster · 1989 บรรทัด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HP / 1 ATK / 1 DEF แต่ 'หลบทุกครั้งที่ตี' — เกตด้วยตัวนับ hit_try ไม่ใช่ HP. แบ่งเป็นด่าน blue gauntlet → จุดพลิก turn 14 → เฟสจริง red → special attack → หลับ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657600" cy="397764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SansBoss.java (763) — Controller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2918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ตัวนับ hit_try คุมลำดับด่าน (13 blue → 14 พลิก → 15-26 red)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ทำให้ Sans หลบ (slide) แต่เทิร์นยังรันท่าเต็ม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14: เสนอไว้ชีวิต — ค้างจนผู้เล่นเลือก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chooseAttack() · onAct() · onDefeat() · onSpare()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mercyDeath() — ปุ่ม FIGHT ปลอม (จบแบบไว้ชีวิต)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wakeUp() — ตื่นจากหลับ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297680" y="2194560"/>
            <a:ext cx="3657600" cy="397764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80560" y="23042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SansBody.java (1989) — Body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80560" y="2697480"/>
            <a:ext cx="3291840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วาดสไปรต์หลายชิ้น: ขา/ตัว/pose แขน/หน้า/เหงื่อ/ตาน้ำเงิน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รันท่า a_type ที่ controller เลือก + smasher slams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 (50→75): special-attack chain — warmup → blaster ring → slam loop → monologue → หลับ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waitThen(n, step): พอร์ต alarm[5] lac++ ของ GML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startSmasher() · startChain() · dodge() · sneakAttack()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 ความแรง gravity/slam ของท่าพิเศษ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046720" y="2194560"/>
            <a:ext cx="3584448" cy="3977640"/>
          </a:xfrm>
          <a:prstGeom prst="roundRect">
            <a:avLst>
              <a:gd name="adj" fmla="val 1786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0" y="2304288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กลไกเฉพาะ Sans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0" y="2697480"/>
            <a:ext cx="3218688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(KarmaTicker): โดนแล้วเลือดค่อย ๆ drain ต่อ — พิษสะสม km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โชว์เป็นแถบสีม่วงบน HP bar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Gaster Blaster: ปืนเลเซอร์กะโหลก (bullet/gaster)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ScreenFlash: จอขาวแวบระหว่างท่าที่ต่อกัน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blue-bone: โดนเฉพาะตอน soul ขยับ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เพลงคุมเอง (ramp) → musicPath()=null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ไฟล์ใหญ่สุดในโปรเจกต์ — body 1989 บรรทัดเพราะ special attack เป็น chain ยาวหลาย sub-state ที่ถอดเฟรมต่อเฟรมจากภาพอ้างอิง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เจาะลึกบอส 4/6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Undyne the Undying + Asgore (บอสสุดท้าย)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532120" cy="4617720"/>
          </a:xfrm>
          <a:prstGeom prst="roundRect">
            <a:avLst>
              <a:gd name="adj" fmla="val 1386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8249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Undyne (obj_undyneboss, 695)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516636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E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สลับ GREEN shield ↔ RED dodge ตาม order 1→24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GREEN: สอนบล็อกหอก ('En guarde!')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RED: follow-spears ('Enough warming up!')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9–11 GREEN · 12–14 RED: rising-spears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15–21 GREEN · 22–24 RED ('DIE ALREADY!')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ไว้ชีวิตไม่ได้ (mercymod ติดลบมาก)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playerDamageMultiplier ×21 (min 600) → FIGHT เจาะได้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override: musicPath · chooseAttack · onDefeat · onAct · onSpecial · update · render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soul หันโล่ 4 ทิศ + หอกหลายแบบจาก bullet/undyne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572768"/>
            <a:ext cx="5458968" cy="4617720"/>
          </a:xfrm>
          <a:prstGeom prst="roundRect">
            <a:avLst>
              <a:gd name="adj" fmla="val 1386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55080" y="1682496"/>
            <a:ext cx="5093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Asgore (obj_asgoreb, 488)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55080" y="2075688"/>
            <a:ext cx="509320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บอสสุดท้าย — โหดที่สุดเชิงกลไก MERCY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คัตซีนเปิด: '…DETERMINATION.' → 'Human… Goodbye.'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ปุ่ม MERCY หายตั้งแต่ต้น (global.mercy=2, broken) — ไม่มีอนิเมชันแตก ปุ่มไม่อยู่เลย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soul · ด่านยาว: ไฟ + มือบิน + trident swipe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fivedamage: ตีจน HP ต่ำ → คัตซีน 'เหลือเลือดนิดเดียว' แทนตาย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GENOCIDE: เสนอชา → ผู้เล่นฟันหมัดเดียว → คุกเข่า 'Why… You…'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override: chooseAttack · onAct · onDamaged · onDefeat · update · introComplete · render</a:t>
            </a:r>
            <a:endParaRPr lang="en-US" sz="110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ไฟหลากแบบ + มือ + หอกฟาด จาก bullet/asgore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เจาะลึกบอส 5/6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Mettaton EX / NEO + Muffet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657600" cy="461772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824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Mettaton EX (473)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32918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ชนะด้วย RATINGS ไม่ใช่ HP (แต่ตายด้วย HP ได้)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shoot soul — ยิงขึ้นทำลายเป้า Shootable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machine 20 เทิร์น: ตั้ง taunt/tempo/border, turn 14 ระเบิดแขน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attacktype = 29 + turns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จบ: บด HP 1600=0 (con50) หรือดันเรตติ้งผ่านหลัก (con90)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hideHpHeader=true → โชว์มิเตอร์ RATINGS แทน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กระสุน: parasol/plus-bomb/disco/leg/arm…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297680" y="1572768"/>
            <a:ext cx="3657600" cy="461772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80560" y="16824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Mettaton NEO (193)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80560" y="2075688"/>
            <a:ext cx="32918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genocide-only · cutscene-only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โชว์ 90 ATK / 9 DEF แต่...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mercymod = −999999 → ข้ามเทิร์นทันที (ไม่เคยยิงกระสุน)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= forcedKill (one-shot kill)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โดนฟัน → faceemotion 6 → monologue พิมพ์ → white-fade → ระเบิด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สั้น: chooseAttack/onAct/onDefeat/update/introComplete/render</a:t>
            </a:r>
            <a:endParaRPr lang="en-US" sz="108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เป็นตัวอย่างบอส 'คัตซีนล้วน' ที่ใช้ Core น้อยสุด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046720" y="1572768"/>
            <a:ext cx="3584448" cy="4617720"/>
          </a:xfrm>
          <a:prstGeom prst="roundRect">
            <a:avLst>
              <a:gd name="adj" fmla="val 1786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0" y="168249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Muffet (429)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0" y="2075688"/>
            <a:ext cx="321868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สู้ในโหมด PURPLE web ทั้งฉาก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1250 / ATK 8 / DEF 0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 ผูก 3 เส้นใย กระโดดข้ามเส้นหลบ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เทิร์น (turnAmt 0..15) = 16 แพตเทิร์นจาก SpiderBulletGen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เทิร์น 4/9/15 = pet special (Breakfast/Lunch/Dinner)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จบ: โทรเลขจาก RUINS → เข้าใจผิด → ไว้ชีวิต (peaceful)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murder route: DEF ลด → FIGHT ล้มได้ใน 2-3 ที</a:t>
            </a:r>
            <a:endParaRPr lang="en-US" sz="108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กระสุน: spider/donut/croissant/cupcake</a:t>
            </a:r>
            <a:endParaRPr lang="en-US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เจาะลึกบอส 6/6 — ฉากจบ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Asriel Dreemurr (obj_asrielb → obj_asrielfinal) — ฉากจบสองพาร์ต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657600" cy="461772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824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A — GOD of Hyperdeath (810)</a:t>
            </a:r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32918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9999 / DEF 9999 — ฆ่าไม่ได้ ไว้ชีวิตไม่ได้ (mercymod ติดลบมหาศาล)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ตัวนับ turns 0→13 ไล่ตารางท่าโจมตีตายตัว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อินโทรไฟเวทสงบ (fire-helix ขาวบนพื้นดำ) → ด่านจักรวาล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/ GALACTA BLAZING — ดาวรุ้งตก + ดาวใหญ่ปิดท้าย (t 0/4/9)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SHOCKER BREAKER (II) — เสาสายฟ้ารุ้ง เจ็บเฉพาะตอนวาบ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SABER / SLICER — แขนดาบฟันในกล่องเตี้ย (t 2/6/10)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BUSTER / BLASTER — แขนปืนยิงระลอก → ลำแสงใหญ่ (t 5/7/11)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h_mode ท่ายากเมื่อ turns ≥ 8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Hope (ลด ATK 8→6 + ฮีล) / Dream (ฮีล)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t==13 HYPER GONER (กล่อง→เต็มจอ, HP ค้างที่ 1) → แปลงร่าง</a:t>
            </a:r>
          </a:p>
        </p:txBody>
      </p:sp>
      <p:sp>
        <p:nvSpPr>
          <p:cNvPr id="7" name="Shape 5"/>
          <p:cNvSpPr/>
          <p:nvPr/>
        </p:nvSpPr>
        <p:spPr>
          <a:xfrm>
            <a:off x="4297680" y="1572768"/>
            <a:ext cx="3657600" cy="461772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80560" y="168249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B — Angel of Death / SAVE</a:t>
            </a:r>
          </a:p>
        </p:txBody>
      </p:sp>
      <p:sp>
        <p:nvSpPr>
          <p:cNvPr id="9" name="Text 7"/>
          <p:cNvSpPr/>
          <p:nvPr/>
        </p:nvSpPr>
        <p:spPr>
          <a:xfrm>
            <a:off x="4480560" y="2075688"/>
            <a:ext cx="32918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แปลงร่าง → ร่างปีก Angel of Death (AsrielFinalBody)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แพ้ไม่ได้: onLethalDamage() → “But it refused.” เติม HP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สเตจ 0 (flag[501]==0): กระสุนคอเมต token (AngelComet, dmg 1)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 / Check ได้แค่ดิ้น (“Can’t move your body.”)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ดิ้น ≥4 ครั้ง → ฉาก SAVE → flag[501]=1, คืน HP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ปุ่ม ACT กลายเป็นปุ่ม SAVE รุ้ง (wantsSaveButton())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เพื่อน 4 รายการ → ครบ → flag[501]=2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“Someone else” = SAVE ตัว Asriel เอง → flag[501]=3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F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คัตซีนพังทลาย → การ์ดชนะ (“You SAVED ASRIEL.”)</a:t>
            </a:r>
          </a:p>
        </p:txBody>
      </p:sp>
      <p:sp>
        <p:nvSpPr>
          <p:cNvPr id="10" name="Shape 8"/>
          <p:cNvSpPr/>
          <p:nvPr/>
        </p:nvSpPr>
        <p:spPr>
          <a:xfrm>
            <a:off x="8046720" y="1572768"/>
            <a:ext cx="3584448" cy="4617720"/>
          </a:xfrm>
          <a:prstGeom prst="roundRect">
            <a:avLst>
              <a:gd name="adj" fmla="val 1786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0" y="168249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Lost Souls (boss/asriel/)</a:t>
            </a:r>
          </a:p>
        </p:txBody>
      </p:sp>
      <p:sp>
        <p:nvSpPr>
          <p:cNvPr id="12" name="Text 10"/>
          <p:cNvSpPr/>
          <p:nvPr/>
        </p:nvSpPr>
        <p:spPr>
          <a:xfrm>
            <a:off x="8229600" y="2075688"/>
            <a:ext cx="321868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 SAVE = มินิไฟต์เพื่อนในโหมด soul ต่างกัน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ใช้เอนจินกระสุนของบอสก่อนหน้าซ้ำ (ไม่แตะ Core)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Undyne — GREEN บล็อกโล่ (SpearBlocker)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Alphys — YELLOW ยิง + ร่มมินิ-Mettaton (ParasolGen)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&amp; Papyrus — BLUE กระดูก (SizeBone)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Toriel &amp; Asgore — RED ไฟวนเกลียว + มือ (ConvergingFireGen)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ปลดเพื่อน (3–4 ACT) → ตั้ง flag[505..508]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LostSoul (abstract) + LostSoulBody — เงาเทา</a:t>
            </a:r>
          </a:p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เฟรมเวิร์กอยู่ใน boss/asriel/, ขับโดย AsrielBoss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เลเยอร์ BULLET/ — กระสุน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bullet/ — ลำดับชั้นกระสุน + ตระกูลของแต่ละบอส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57600" cy="4617720"/>
          </a:xfrm>
          <a:prstGeom prst="roundRect">
            <a:avLst>
              <a:gd name="adj" fmla="val 1750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642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ลำดับชั้นฐาน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2918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AttackPattern (abstract)</a:t>
            </a:r>
            <a:endParaRPr lang="en-US" sz="10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ฟิลด์การเคลื่อนที่ GML: hspeed/vspeed/gravity/gravityDirection/imageAngle/imageSpeed/dmg + integrateMotion()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Bullet (abstract)</a:t>
            </a:r>
            <a:endParaRPr lang="en-US" sz="10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ชนหัวใจ: halfWidth/boxTop/boxBottom + collidesSoul() → onHitSoul() → Soul.hurt(). ธง blue (โดนเฉพาะ soul น้ำเงินที่ขยับ) · osc bobbing · cull นอกขอบ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└─ Generator (abstract)</a:t>
            </a:r>
            <a:endParaRPr lang="en-US" sz="1050" dirty="0"/>
          </a:p>
          <a:p>
            <a:pPr indent="0" marL="0">
              <a:lnSpc>
                <a:spcPct val="100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ปล่อยกระสุนตามจังหวะ (obj_*gen): rate/count/life/diff/lv + emit() แล้วทำลายตัวเอง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PlayerBullet + Shootable (interface)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กระสุนหัวใจเหลือง (EX) ยิงขึ้น ชน Shootable → onShot() (ทำลาย/สลับ) + shotRating()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26280" y="16367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bones/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1938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· Papyrus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89320" y="1554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SansBone · BoneWall · BoneStab · BoneLoopV · BonePlatform · TopBone · SizeBone · BoneArt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0" y="2153412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26280" y="22357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gaster/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5374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89320" y="215341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GasterBlaster + GasterBlasterGen — ปืนเลเซอร์กะโหลก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2752344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280" y="28346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undyne/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3136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Undyne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89320" y="27523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Follow/Rise/Rot/Green Spear (+Gen) · BlockBullet · BlockSpear2 · BlueFinisher · SpearBlocker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0" y="3351276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26280" y="34335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asgore/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26280" y="37353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Asgore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89320" y="335127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 Linear/Radial/Helix/Sine/Column/Storm/Converging + HandBullet · SpearSwipe · SideDam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3950208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26280" y="403250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mettaton/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26280" y="4334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Mettaton EX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89320" y="39502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Parasol · Plus Bomb/Blast · DiscoBall · HeartCore · OrbitRing · Leg · SegArm · Lightning · Block (ยิงทำลายได้)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9120" y="4549140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26280" y="46314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muffet/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26280" y="49331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Muffet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89320" y="45491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SpiderBullet(+Gen) · VertSpider · Croissant · Cupcake · DonutBullet · PetSpecial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หลักการ: generator เป็น Entity เหมือนกระสุน → อยู่ใน instance list เดียวกัน, สแปวน์/ทำลายผ่าน EntityManager เหมือนกันหมด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389120" y="5148072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26"/>
          <p:cNvSpPr/>
          <p:nvPr/>
        </p:nvSpPr>
        <p:spPr>
          <a:xfrm>
            <a:off x="4526280" y="52303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toriel/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526280" y="5532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Toriel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5989320" y="514807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FireHelix(+Gen) · MiniHelix · ChaseFire · HandBullet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4526280" y="61310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Asriel</a:t>
            </a:r>
          </a:p>
        </p:txBody>
      </p:sp>
      <p:sp>
        <p:nvSpPr>
          <p:cNvPr id="37" name="Shape 25"/>
          <p:cNvSpPr/>
          <p:nvPr/>
        </p:nvSpPr>
        <p:spPr>
          <a:xfrm>
            <a:off x="4389120" y="5747004"/>
            <a:ext cx="7242048" cy="548640"/>
          </a:xfrm>
          <a:prstGeom prst="roundRect">
            <a:avLst>
              <a:gd name="adj" fmla="val 6329"/>
            </a:avLst>
          </a:prstGeom>
          <a:solidFill>
            <a:srgbClr val="16181D"/>
          </a:solidFill>
          <a:ln w="12700">
            <a:solidFill>
              <a:srgbClr val="C77D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26"/>
          <p:cNvSpPr/>
          <p:nvPr/>
        </p:nvSpPr>
        <p:spPr>
          <a:xfrm>
            <a:off x="4526280" y="58293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asriel/</a:t>
            </a:r>
          </a:p>
        </p:txBody>
      </p:sp>
      <p:sp>
        <p:nvSpPr>
          <p:cNvPr id="39" name="Text 28"/>
          <p:cNvSpPr/>
          <p:nvPr/>
        </p:nvSpPr>
        <p:spPr>
          <a:xfrm>
            <a:off x="5989320" y="574700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StarBlazing · StormStar · ShockerBreaker · ChaosSaber · SwordArm · ChaosBuster · HyperGoner · AngelComet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เลเยอร์ UTIL/ — เครื่องมือ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util/ — ฟังก์ชันพื้นฐานที่ทุกชั้นเรียกใช้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5486400" cy="2212848"/>
          </a:xfrm>
          <a:prstGeom prst="roundRect">
            <a:avLst>
              <a:gd name="adj" fmla="val 2893"/>
            </a:avLst>
          </a:prstGeom>
          <a:solidFill>
            <a:srgbClr val="16181D"/>
          </a:solidFill>
          <a:ln w="12700">
            <a:solidFill>
              <a:srgbClr val="FF922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373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GMLHelper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130552"/>
            <a:ext cx="5120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พอร์ต built-in ของ GameMaker (มุม=องศา, screen-space: 0°=ขวา, 90°=ขึ้น, y กลับด้าน)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lengthdir_x/y · dcos/dsin · point_direction · point_distance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random_range · random · irandom(_range) · choose · clamp · sign · approach · angle_difference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สูตรการเคลื่อนที่จาก GML พอร์ตมาตรง ๆ ได้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627632"/>
            <a:ext cx="5504688" cy="2212848"/>
          </a:xfrm>
          <a:prstGeom prst="roundRect">
            <a:avLst>
              <a:gd name="adj" fmla="val 2893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09360" y="1737360"/>
            <a:ext cx="513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09360" y="2130552"/>
            <a:ext cx="513892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โหลด+แคชสไปรต์/เสียงจาก resources/ (= sprite_index)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sprite(name)/image(name) คืน BufferedImage (IMAGE_CACHE)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ไฟล์หาย → คืน null + log ครั้งเดียว (MISSING_LOGGED) — โค้ดวาด guard null ไว้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รันได้ก่อนมี art จริง (asset ลิขสิทธิ์ไม่ commit)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959352"/>
            <a:ext cx="5486400" cy="2212848"/>
          </a:xfrm>
          <a:prstGeom prst="roundRect">
            <a:avLst>
              <a:gd name="adj" fmla="val 2893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0690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4462272"/>
            <a:ext cx="512064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เครื่องเสียง — แทน caster_* ของ GML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Music: loop() 1 แทร็กวน, stopMusic() (music bus เดียว)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SFX: play() ยิงทิ้ง ซ้อนกันได้ (บลิป/โดนตี/สไตรก์)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OGG ผ่าน vorbisspi/jorbis · toggleMute()/isMuted()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959352"/>
            <a:ext cx="5504688" cy="2212848"/>
          </a:xfrm>
          <a:prstGeom prst="roundRect">
            <a:avLst>
              <a:gd name="adj" fmla="val 2893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4069080"/>
            <a:ext cx="513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09360" y="4462272"/>
            <a:ext cx="513892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ฟอนต์พิกเซลในธีม โหลดครั้งเดียวจาก resources/fonts/ + register กับ JVM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ui(size) = VT323 (เนื้อหา: เมนู/กล่อง/HUD/บทพูด)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title(size) = Press Start 2P (หัวข้อ/PAUSED)</a:t>
            </a:r>
            <a:endParaRPr lang="en-US" sz="1150" dirty="0"/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ขนาดที่ derive แล้ว · โหลดไม่ได้ → fallback Monospaced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การทำงานร่วมกัน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ภายใน 1 เฟรม — ทุกชิ้นทำงานร่วมกันอย่างไร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7315200" cy="649224"/>
          </a:xfrm>
          <a:prstGeom prst="roundRect">
            <a:avLst>
              <a:gd name="adj" fmla="val 8451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91640"/>
            <a:ext cx="411480" cy="411480"/>
          </a:xfrm>
          <a:prstGeom prst="ellipse">
            <a:avLst/>
          </a:prstGeom>
          <a:solidFill>
            <a:srgbClr val="4DA6F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53312" y="16367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Game.tick()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53312" y="192024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อินพุต · เช็ค mute · เรียก current.update()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7315200" cy="649224"/>
          </a:xfrm>
          <a:prstGeom prst="roundRect">
            <a:avLst>
              <a:gd name="adj" fmla="val 8451"/>
            </a:avLst>
          </a:prstGeom>
          <a:solidFill>
            <a:srgbClr val="16181D"/>
          </a:solidFill>
          <a:ln w="12700">
            <a:solidFill>
              <a:srgbClr val="4DA6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432304"/>
            <a:ext cx="411480" cy="411480"/>
          </a:xfrm>
          <a:prstGeom prst="ellipse">
            <a:avLst/>
          </a:prstGeom>
          <a:solidFill>
            <a:srgbClr val="4DA6FF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432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53312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D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feedSoulInput()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53312" y="2660904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BattleScene ป้อนคีย์ให้ Soul (เฉพาะเทิร์นศัตรู)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7315200" cy="649224"/>
          </a:xfrm>
          <a:prstGeom prst="roundRect">
            <a:avLst>
              <a:gd name="adj" fmla="val 8451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3172968"/>
            <a:ext cx="411480" cy="411480"/>
          </a:xfrm>
          <a:prstGeom prst="ellipse">
            <a:avLst/>
          </a:prstGeom>
          <a:solidFill>
            <a:srgbClr val="5BE584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172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53312" y="31181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beginStepAll → updateAll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53312" y="3401568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Entity: alarms→update(). Soul ขยับ · กระสุนบิน+ชน · body วาดท่า · menu จัดการตัวเอง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7315200" cy="649224"/>
          </a:xfrm>
          <a:prstGeom prst="roundRect">
            <a:avLst>
              <a:gd name="adj" fmla="val 8451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913632"/>
            <a:ext cx="411480" cy="41148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913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53312" y="38587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turns.tick()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53312" y="4142232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อ่าน mnfight → เรียก hook บอส (chooseAttack/onSpecial…) นับ turntimer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535424"/>
            <a:ext cx="7315200" cy="649224"/>
          </a:xfrm>
          <a:prstGeom prst="roundRect">
            <a:avLst>
              <a:gd name="adj" fmla="val 8451"/>
            </a:avLst>
          </a:prstGeom>
          <a:solidFill>
            <a:srgbClr val="16181D"/>
          </a:solidFill>
          <a:ln w="12700">
            <a:solidFill>
              <a:srgbClr val="FF2E2E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654296"/>
            <a:ext cx="411480" cy="411480"/>
          </a:xfrm>
          <a:prstGeom prst="ellipse">
            <a:avLst/>
          </a:prstGeom>
          <a:solidFill>
            <a:srgbClr val="FF2E2E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654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53312" y="4599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2E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damage.resolve()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353312" y="4882896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ปรับดาเมจที่ค้าง (takedamage) ผ่าน DEF · นับ i-frame · endStep → KARMA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276088"/>
            <a:ext cx="7315200" cy="649224"/>
          </a:xfrm>
          <a:prstGeom prst="roundRect">
            <a:avLst>
              <a:gd name="adj" fmla="val 8451"/>
            </a:avLst>
          </a:prstGeom>
          <a:solidFill>
            <a:srgbClr val="16181D"/>
          </a:solidFill>
          <a:ln w="12700">
            <a:solidFill>
              <a:srgbClr val="C77DFF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5394960"/>
            <a:ext cx="411480" cy="411480"/>
          </a:xfrm>
          <a:prstGeom prst="ellipse">
            <a:avLst/>
          </a:prstGeom>
          <a:solidFill>
            <a:srgbClr val="C77DFF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5394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53312" y="53400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endStepAll → flush()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353312" y="562356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ใส่/ลบ Entity ที่คิวไว้ (deferred) · วนกลับข้อ 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1572768"/>
            <a:ext cx="3493008" cy="3063240"/>
          </a:xfrm>
          <a:prstGeom prst="roundRect">
            <a:avLst>
              <a:gd name="adj" fmla="val 2388"/>
            </a:avLst>
          </a:prstGeom>
          <a:solidFill>
            <a:srgbClr val="1E2127"/>
          </a:solidFill>
          <a:ln w="15875">
            <a:solidFill>
              <a:srgbClr val="FFD43B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464040" y="1931213"/>
            <a:ext cx="427939" cy="452628"/>
          </a:xfrm>
          <a:prstGeom prst="ellipse">
            <a:avLst/>
          </a:prstGeom>
          <a:solidFill>
            <a:srgbClr val="FF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59061" y="1931213"/>
            <a:ext cx="427939" cy="452628"/>
          </a:xfrm>
          <a:prstGeom prst="ellipse">
            <a:avLst/>
          </a:prstGeom>
          <a:solidFill>
            <a:srgbClr val="FF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10800000">
            <a:off x="9529877" y="2112264"/>
            <a:ext cx="691286" cy="510235"/>
          </a:xfrm>
          <a:prstGeom prst="triangle">
            <a:avLst/>
          </a:prstGeom>
          <a:solidFill>
            <a:srgbClr val="FF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38160" y="2651760"/>
            <a:ext cx="3493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GlobalState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321040" y="3063240"/>
            <a:ext cx="31272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ทุกขั้นซ้ายมือคุยกันผ่าน global เดียวนี้ — mnfight · hp · idealborder · monsterhp[] · takedamage · turntimer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38160" y="4800600"/>
            <a:ext cx="34930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ไม่รู้จักบอสตัวไหนเลย — บอสเสียบงานผ่าน hook + อ่าน/เขียน GlobalState เท่านั้น → เพิ่มบอสใหม่ไม่ต้องแตะ Core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สรุปหลักการ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ตารางแปลง GML → Java + หลักการออกแบบ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6126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383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D4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GML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DA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Java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 Event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constructor / setup()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Step Event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Draw Event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render(Graphics2D g)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Begin/End Step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beginStep() / endStep()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alarm[n]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AlarmTimer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event_user(n)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EventUser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global.* ตัวแปร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fields บน GlobalState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instance_create/_destroy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EntityManager.add / destroy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with(obj) { 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EntityManager.with(Class, …)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room_goto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Game.setScene(Scene)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scr_battlegroup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9D1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BossRegistry.create()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01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572768"/>
            <a:ext cx="4727448" cy="4617720"/>
          </a:xfrm>
          <a:prstGeom prst="roundRect">
            <a:avLst>
              <a:gd name="adj" fmla="val 1386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86600" y="1682496"/>
            <a:ext cx="4361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หลักการออกแบบหลัก 5 ข้อ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086600" y="2075688"/>
            <a:ext cx="4361688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/ Body split — บอสแยกตรรกะเทิร์น (Boss) ออกจากการวาด (BossBody)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— global ทั้งหมดอยู่ที่ GlobalState ที่เดียว ไม่กระจาย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ไม่รู้จักบอส — ติดต่อผ่าน hook/SPI; เพิ่มบอส = ลงทะเบียน 1 บรรทัดใน BossRegistry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Frame-locked 30 FPS — ค่า alarm/turntimer จาก GML พอร์ตได้ตรง ๆ</a:t>
            </a:r>
            <a:endParaRPr lang="en-US" sz="1250" dirty="0"/>
          </a:p>
          <a:p>
            <a:pPr marL="165100" indent="-1651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 เป็น Entity ด้วย — ตัวปล่อยกระสุนอยู่ใน instance list เดียวกัน, deferred add/destroy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38251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ผลลัพธ์: เพิ่มบอสใหม่แทบไม่แตะ Core — เขียนแค่ Boss/BossBody + กระสุน แล้วลงทะเบียนใน BossRegistry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ผลการตรวจ/ปรับโค้ดรอบนี้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ฟีเจอร์รอบนี้ + code-health — สะอาด, เขียว, เทสต์ผ่าน 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532120" cy="2240280"/>
          </a:xfrm>
          <a:prstGeom prst="roundRect">
            <a:avLst>
              <a:gd name="adj" fmla="val 2857"/>
            </a:avLst>
          </a:prstGeom>
          <a:solidFill>
            <a:srgbClr val="16181D"/>
          </a:solidFill>
          <a:ln w="12700">
            <a:solidFill>
              <a:srgbClr val="5BE584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682496"/>
            <a:ext cx="5166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ผลสแกน (ทั้งโปรเจกต์)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516636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debug print หลง · ไม่มี exception ที่ถูกกลืน · ไม่มี dead code</a:t>
            </a:r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ลบฟิลด์ตาย 1 จุด — AsrielFinalBody.bodyfader (ไม่เคยอ่าน/เขียน)</a:t>
            </a:r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แก้ javadoc AsrielBoss ที่ล้าสมัย (เคยบอกว่าท่ายังไม่ทำ ทั้งที่ทำครบ)</a:t>
            </a:r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 ครบทุกคลาส · TODO เหลือ 1 จุด (SansBody a_type 9 เข้าไม่ถึง)</a:t>
            </a:r>
          </a:p>
        </p:txBody>
      </p:sp>
      <p:sp>
        <p:nvSpPr>
          <p:cNvPr id="7" name="Shape 5"/>
          <p:cNvSpPr/>
          <p:nvPr/>
        </p:nvSpPr>
        <p:spPr>
          <a:xfrm>
            <a:off x="6172200" y="1572768"/>
            <a:ext cx="5458968" cy="2240280"/>
          </a:xfrm>
          <a:prstGeom prst="roundRect">
            <a:avLst>
              <a:gd name="adj" fmla="val 2857"/>
            </a:avLst>
          </a:prstGeom>
          <a:solidFill>
            <a:srgbClr val="16181D"/>
          </a:solidFill>
          <a:ln w="12700">
            <a:solidFill>
              <a:srgbClr val="FFD43B">
                <a:alpha val="6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55080" y="1682496"/>
            <a:ext cx="5093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บอสล่าสุด: ASRIEL DREEMURR — ฉากจบสองพาร์ต</a:t>
            </a:r>
          </a:p>
        </p:txBody>
      </p:sp>
      <p:sp>
        <p:nvSpPr>
          <p:cNvPr id="9" name="Text 7"/>
          <p:cNvSpPr/>
          <p:nvPr/>
        </p:nvSpPr>
        <p:spPr>
          <a:xfrm>
            <a:off x="6355080" y="2075688"/>
            <a:ext cx="509320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GOD of Hyperdeath: ด่านสคริปต์ turns 0→13 (Star/Galacta Blazing · Shocker Breaker · Chaos Saber · Chaos Buster · Hyper Goner) → แปลงร่าง</a:t>
            </a:r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Angel of Death: วงจรตาย → SAVE → 4 มินิไฟต์ Lost Soul (Undyne · Alphys · พี่น้องโครงกระดูก · ตระกูล Dreemurr) → SAVE Asriel → ชนะ</a:t>
            </a:r>
          </a:p>
          <a:p>
            <a:pPr marL="165100" indent="-165100">
              <a:lnSpc>
                <a:spcPct val="100000"/>
              </a:lnSpc>
              <a:spcAft>
                <a:spcPts val="400"/>
              </a:spcAft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ไฟล์ใหม่ Asriel{Boss,Body,Background,FinalBody} + boss/asriel + bullet/asriel (16 ไฟล์) — ไม่แตะ Core, เพิ่ม registry 1 บรรทัด (9=Asriel)</a:t>
            </a:r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82528" cy="1280160"/>
          </a:xfrm>
          <a:prstGeom prst="roundRect">
            <a:avLst>
              <a:gd name="adj" fmla="val 5714"/>
            </a:avLst>
          </a:prstGeom>
          <a:solidFill>
            <a:srgbClr val="1E2127"/>
          </a:solidFill>
          <a:ln w="19050">
            <a:solidFill>
              <a:srgbClr val="5BE584">
                <a:alpha val="85000"/>
              </a:srgbClr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4114800"/>
            <a:ext cx="11082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E5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SUCCESSFUL   ·   TESTS: 49 run, 0 failed, 0 errored, 0 skipped   ·   RESULT: PASS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4645152"/>
            <a:ext cx="11082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ยืนยันก่อน-หลังแก้: 44 → 49 เทสต์ผ่าน — บอสใหม่เสียบผ่าน registry ไม่แตะ 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440680"/>
            <a:ext cx="11082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เหตุผลที่ไม่รื้อคอมเมนต์ทั้ง 20k บรรทัด: โค้ดมี javadoc/คอมเมนต์ละเอียดครบอยู่แล้ว — การ re-comment ยกชุดคือ churn ที่เพิ่มความเสี่ยงโดยไม่ได้คุณค่า จึงเพิ่มคอมเมนต์เฉพาะจุดที่แก้จริง (ไฟล์ Toriel ที่เพิ่มใหม่)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UndertaleBossFight — สรุปสถาปัตยกรรมโค้ด (ฉบับละเอียด)</dc:title>
  <dc:subject>PptxGenJS Presentation</dc:subject>
  <dc:creator>Claude Code</dc:creator>
  <cp:lastModifiedBy>Claude Code</cp:lastModifiedBy>
  <cp:revision>1</cp:revision>
  <dcterms:created xsi:type="dcterms:W3CDTF">2026-06-19T07:13:55Z</dcterms:created>
  <dcterms:modified xsi:type="dcterms:W3CDTF">2026-06-19T07:13:55Z</dcterms:modified>
</cp:coreProperties>
</file>